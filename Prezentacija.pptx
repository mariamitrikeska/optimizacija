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731520"/>
            <a:ext cx="1737360" cy="1737360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55096" y="2276856"/>
            <a:ext cx="658368" cy="658368"/>
          </a:xfrm>
          <a:prstGeom prst="ellipse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2542032"/>
            <a:ext cx="310896" cy="310896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DC4D4"/>
                </a:solidFill>
                <a:latin typeface="Calibri Light"/>
              </a:rPr>
              <a:t>ПРОЕКТ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EEF3F9"/>
                </a:solidFill>
                <a:latin typeface="Calibri"/>
              </a:rPr>
              <a:t>Оптимизација 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EEF3F9"/>
                </a:solidFill>
                <a:latin typeface="Calibri"/>
              </a:rPr>
              <a:t>соларно-батериски системи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9FB2C9"/>
                </a:solidFill>
                <a:latin typeface="Calibri Light"/>
              </a:rPr>
              <a:t>машинско учење + линеарно програмирање за македонски домаќинства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43400"/>
            <a:ext cx="685800" cy="34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DC4D4"/>
                </a:solidFill>
                <a:latin typeface="Calibri"/>
              </a:rPr>
              <a:t>MARIA MITRIKESKA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FB2C9"/>
                </a:solidFill>
                <a:latin typeface="Calibri Light"/>
              </a:rPr>
              <a:t>Скопје, Македонија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2C9"/>
                </a:solidFill>
                <a:latin typeface="Calibri Light"/>
              </a:rPr>
              <a:t>XGBoost   ·   PuLP + CBC   ·   PVGIS   ·   EVN 2026   ·  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СОДРЖИНА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Што ќе видите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11095"/>
            <a:ext cx="365760" cy="365760"/>
          </a:xfrm>
          <a:prstGeom prst="ellipse">
            <a:avLst/>
          </a:prstGeom>
          <a:solidFill>
            <a:srgbClr val="1A304A"/>
          </a:solidFill>
          <a:ln w="15240">
            <a:solidFill>
              <a:srgbClr val="3D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8424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1109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Проблемот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65959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зошто домаќинствата не знаат што да купат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423159"/>
            <a:ext cx="10058400" cy="7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487167"/>
            <a:ext cx="365760" cy="365760"/>
          </a:xfrm>
          <a:prstGeom prst="ellipse">
            <a:avLst/>
          </a:prstGeom>
          <a:solidFill>
            <a:srgbClr val="1A304A"/>
          </a:solidFill>
          <a:ln w="15240">
            <a:solidFill>
              <a:srgbClr val="3D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5603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87167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Податоци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42031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PVGIS сонце + профил на потрошувачка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999231"/>
            <a:ext cx="10058400" cy="7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063239"/>
            <a:ext cx="365760" cy="365760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13639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213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63239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Машинско учење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118103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XGBoost — што ќе се случи утре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575303"/>
            <a:ext cx="10058400" cy="7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639311"/>
            <a:ext cx="365760" cy="365760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71246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2137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Оптимизација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694175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LP — што да се прави тогаш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51375"/>
            <a:ext cx="10058400" cy="7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215383"/>
            <a:ext cx="365760" cy="365760"/>
          </a:xfrm>
          <a:prstGeom prst="ellipse">
            <a:avLst/>
          </a:prstGeom>
          <a:solidFill>
            <a:srgbClr val="1A304A"/>
          </a:solidFill>
          <a:ln w="15240">
            <a:solidFill>
              <a:srgbClr val="3D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28853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215383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Економија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70247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EVN блокови, отплата, NPV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727447"/>
            <a:ext cx="10058400" cy="7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4791455"/>
            <a:ext cx="365760" cy="365760"/>
          </a:xfrm>
          <a:prstGeom prst="ellipse">
            <a:avLst/>
          </a:prstGeom>
          <a:solidFill>
            <a:srgbClr val="1A304A"/>
          </a:solidFill>
          <a:ln w="15240">
            <a:solidFill>
              <a:srgbClr val="3D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86460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79145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Веб алатка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846319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што гледа корисникот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5303519"/>
            <a:ext cx="10058400" cy="7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" y="5367527"/>
            <a:ext cx="365760" cy="365760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4406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2137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367527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EF3F9"/>
                </a:solidFill>
                <a:latin typeface="Calibri"/>
              </a:rPr>
              <a:t>Резултати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422391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колкава батерија и кога се исплати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7A6E"/>
                </a:solidFill>
                <a:latin typeface="Calibri Light"/>
              </a:rPr>
              <a:t>01 · ПРОБЛЕМОТ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Зошто воопшто ми требаше алатка?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228600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64008" cy="228600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7A6E"/>
                </a:solidFill>
                <a:latin typeface="Calibri Light"/>
              </a:rPr>
              <a:t>СИТУАЦИЈАТА ДЕНЕС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FB2C9"/>
                </a:solidFill>
                <a:latin typeface="Calibri Light"/>
              </a:rPr>
              <a:t>Многу македонски куќи имаат соларни панели. Но кога ќе дојде моментот да се купи батерија — никој не знае колкава.
Инсталерите даваат проценки што им одговараат ним, не на купувачот.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228600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64008" cy="228600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 Light"/>
              </a:rPr>
              <a:t>МОЕТО 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FB2C9"/>
                </a:solidFill>
                <a:latin typeface="Calibri Light"/>
              </a:rPr>
              <a:t>Веб алатка која за 60 секунди дава </a:t>
            </a:r>
            <a:r>
              <a:rPr sz="1350" b="1" i="0">
                <a:solidFill>
                  <a:srgbClr val="3DC4D4"/>
                </a:solidFill>
                <a:latin typeface="Calibri Light"/>
              </a:rPr>
              <a:t>објективна препорака</a:t>
            </a:r>
            <a:r>
              <a:rPr sz="1350" b="0" i="0">
                <a:solidFill>
                  <a:srgbClr val="9FB2C9"/>
                </a:solidFill>
                <a:latin typeface="Calibri Light"/>
              </a:rPr>
              <a:t> — базирана на реални податоци и математичка оптимизација, не на проценка.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34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82E"/>
                </a:solidFill>
                <a:latin typeface="Calibri Light"/>
              </a:rPr>
              <a:t>ТРИ ПРАШАЊА НА КОИ ОДГОВАРА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754880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754880"/>
            <a:ext cx="64008" cy="123444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9834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EF3F9"/>
                </a:solidFill>
                <a:latin typeface="Calibri"/>
              </a:rPr>
              <a:t>Колкава батерија?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9FB2C9"/>
                </a:solidFill>
                <a:latin typeface="Calibri Light"/>
              </a:rPr>
              <a:t>техничка препорака од 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4754880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1688" y="4754880"/>
            <a:ext cx="64008" cy="1234440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49834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EF3F9"/>
                </a:solidFill>
                <a:latin typeface="Calibri"/>
              </a:rPr>
              <a:t>За колку се враќа?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9FB2C9"/>
                </a:solidFill>
                <a:latin typeface="Calibri Light"/>
              </a:rPr>
              <a:t>отплата со реални цени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4754880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4754880"/>
            <a:ext cx="64008" cy="1234440"/>
          </a:xfrm>
          <a:prstGeom prst="roundRect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49834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EF3F9"/>
                </a:solidFill>
                <a:latin typeface="Calibri"/>
              </a:rPr>
              <a:t>Дали воопшто вреди?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9FB2C9"/>
                </a:solidFill>
                <a:latin typeface="Calibri Light"/>
              </a:rPr>
              <a:t>NPV за 15 години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ПРЕГЛЕД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Како работи — целиот тек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121408" cy="24231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121408" cy="82296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276856"/>
            <a:ext cx="512064" cy="512064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213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2608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DC4D4"/>
                </a:solidFill>
                <a:latin typeface="Calibri"/>
              </a:rPr>
              <a:t>ПОДАТОЦИ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91840"/>
            <a:ext cx="17190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PVGIS сонце
+ профил на
потрошувачка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24912" y="3063240"/>
            <a:ext cx="155448" cy="155448"/>
          </a:xfrm>
          <a:prstGeom prst="rightArrow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9504" y="1965960"/>
            <a:ext cx="2121408" cy="24231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9504" y="1965960"/>
            <a:ext cx="2121408" cy="82296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0672" y="2276856"/>
            <a:ext cx="512064" cy="512064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377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2137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92608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B82E"/>
                </a:solidFill>
                <a:latin typeface="Calibri"/>
              </a:rPr>
              <a:t>ML ПРОГНОЗА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291840"/>
            <a:ext cx="17190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XGBoost:
„утре во 12ч
ќе има 4.2 kW"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20056" y="3063240"/>
            <a:ext cx="155448" cy="155448"/>
          </a:xfrm>
          <a:prstGeom prst="rightArrow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4648" y="1965960"/>
            <a:ext cx="2121408" cy="24231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84648" y="1965960"/>
            <a:ext cx="2121408" cy="82296"/>
          </a:xfrm>
          <a:prstGeom prst="roundRect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85816" y="2276856"/>
            <a:ext cx="512064" cy="512064"/>
          </a:xfrm>
          <a:prstGeom prst="ellipse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7528" y="2377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2137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92608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A68BF0"/>
                </a:solidFill>
                <a:latin typeface="Calibri"/>
              </a:rPr>
              <a:t>LP ОДЛУКА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3291840"/>
            <a:ext cx="17190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PuLP + CBC:
„полни 11-14ч,
празни 18-21ч"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15200" y="3063240"/>
            <a:ext cx="155448" cy="155448"/>
          </a:xfrm>
          <a:prstGeom prst="rightArrow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79792" y="1965960"/>
            <a:ext cx="2121408" cy="24231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9792" y="1965960"/>
            <a:ext cx="2121408" cy="82296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0" y="2276856"/>
            <a:ext cx="512064" cy="512064"/>
          </a:xfrm>
          <a:prstGeom prst="ellipse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2" y="2377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2137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92608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D995"/>
                </a:solidFill>
                <a:latin typeface="Calibri"/>
              </a:rPr>
              <a:t>ЕКОНОМИЈА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291840"/>
            <a:ext cx="17190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заштеда,
отплата, NPV
за секоја батерија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610344" y="3063240"/>
            <a:ext cx="155448" cy="155448"/>
          </a:xfrm>
          <a:prstGeom prst="rightArrow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74936" y="1965960"/>
            <a:ext cx="2121408" cy="24231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74936" y="1965960"/>
            <a:ext cx="2121408" cy="82296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76104" y="2276856"/>
            <a:ext cx="512064" cy="512064"/>
          </a:xfrm>
          <a:prstGeom prst="ellipse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57816" y="2377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F2137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6104" y="292608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7A6E"/>
                </a:solidFill>
                <a:latin typeface="Calibri"/>
              </a:rPr>
              <a:t>ПРЕПОРАКА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291840"/>
            <a:ext cx="17190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„за тебе е
оптимална
10 kWh"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709160"/>
            <a:ext cx="11018520" cy="137160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4709160"/>
            <a:ext cx="64008" cy="137160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1947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82E"/>
                </a:solidFill>
                <a:latin typeface="Calibri Light"/>
              </a:rPr>
              <a:t>ПОДЕЛБА НА УЛОГИ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2578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B82E"/>
                </a:solidFill>
                <a:latin typeface="Calibri"/>
              </a:rPr>
              <a:t>ML = ГАТАЧОТ</a:t>
            </a:r>
            <a:r>
              <a:rPr sz="1300" b="0" i="0">
                <a:solidFill>
                  <a:srgbClr val="9FB2C9"/>
                </a:solidFill>
                <a:latin typeface="Calibri Light"/>
              </a:rPr>
              <a:t>  само предвидува што ќе се случи, не одлучува ништо.        </a:t>
            </a:r>
            <a:r>
              <a:rPr sz="1500" b="1" i="0">
                <a:solidFill>
                  <a:srgbClr val="A68BF0"/>
                </a:solidFill>
                <a:latin typeface="Calibri"/>
              </a:rPr>
              <a:t>LP = ПЛАНЕРОТ</a:t>
            </a:r>
            <a:r>
              <a:rPr sz="1300" b="0" i="0">
                <a:solidFill>
                  <a:srgbClr val="9FB2C9"/>
                </a:solidFill>
                <a:latin typeface="Calibri Light"/>
              </a:rPr>
              <a:t>  само одлучува што да се прави, не предвидува ништо.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02 · ПОДАТОЦИ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Од каде доаѓаат бројките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566160" cy="37947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66160" cy="82296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12848"/>
            <a:ext cx="548640" cy="548640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2137"/>
                </a:solidFill>
                <a:latin typeface="Calibri"/>
              </a:rPr>
              <a:t>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677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F3F9"/>
                </a:solidFill>
                <a:latin typeface="Calibri"/>
              </a:rPr>
              <a:t>PVGIS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78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FB2C9"/>
                </a:solidFill>
                <a:latin typeface="Calibri Light"/>
              </a:rPr>
              <a:t>Европска комисија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3DC4D4"/>
                </a:solidFill>
                <a:latin typeface="Calibri Light"/>
              </a:rPr>
              <a:t>ЛОКАЦИЈА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Скопје · 41.998°N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3DC4D4"/>
                </a:solidFill>
                <a:latin typeface="Calibri Light"/>
              </a:rPr>
              <a:t>ПЕРИОД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679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2021 –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3DC4D4"/>
                </a:solidFill>
                <a:latin typeface="Calibri Light"/>
              </a:rPr>
              <a:t>РЕЗОЛУЦИЈА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7141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1 час · 26.280 реда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3DC4D4"/>
                </a:solidFill>
                <a:latin typeface="Calibri Light"/>
              </a:rPr>
              <a:t>ДАВА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PV моќност, температура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874519"/>
            <a:ext cx="3566160" cy="37947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4256" y="1874519"/>
            <a:ext cx="3566160" cy="82296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62856" y="2212848"/>
            <a:ext cx="548640" cy="548640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2331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2137"/>
                </a:solidFill>
                <a:latin typeface="Calibri"/>
              </a:rPr>
              <a:t>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22677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F3F9"/>
                </a:solidFill>
                <a:latin typeface="Calibri"/>
              </a:rPr>
              <a:t>Open-Meteo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2578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FB2C9"/>
                </a:solidFill>
                <a:latin typeface="Calibri Light"/>
              </a:rPr>
              <a:t>метеоролошка база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063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B82E"/>
                </a:solidFill>
                <a:latin typeface="Calibri Light"/>
              </a:rPr>
              <a:t>ОБЛАЧНОСТ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32644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вкупна + по висина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36667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B82E"/>
                </a:solidFill>
                <a:latin typeface="Calibri Light"/>
              </a:rPr>
              <a:t>ВЛАЖНОСТ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38679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индикатор за магла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6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B82E"/>
                </a:solidFill>
                <a:latin typeface="Calibri Light"/>
              </a:rPr>
              <a:t>ВЕТАР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47141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ги лади панелите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B82E"/>
                </a:solidFill>
                <a:latin typeface="Calibri Light"/>
              </a:rPr>
              <a:t>КЛУЧНО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5074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единствениот непредвидлив дел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4152" y="1874519"/>
            <a:ext cx="3566160" cy="37947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74152" y="1874519"/>
            <a:ext cx="3566160" cy="82296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02752" y="2212848"/>
            <a:ext cx="548640" cy="548640"/>
          </a:xfrm>
          <a:prstGeom prst="ellipse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23317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F2137"/>
                </a:solidFill>
                <a:latin typeface="Calibri"/>
              </a:rPr>
              <a:t>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22677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EF3F9"/>
                </a:solidFill>
                <a:latin typeface="Calibri"/>
              </a:rPr>
              <a:t>Load профил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2578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FB2C9"/>
                </a:solidFill>
                <a:latin typeface="Calibri Light"/>
              </a:rPr>
              <a:t>генериран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3063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AD995"/>
                </a:solidFill>
                <a:latin typeface="Calibri Light"/>
              </a:rPr>
              <a:t>ДНЕВНА КРИВА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32644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пик 18-22ч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36667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AD995"/>
                </a:solidFill>
                <a:latin typeface="Calibri Light"/>
              </a:rPr>
              <a:t>ГРЕЕЊЕ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2" y="38679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струја 2.2× · дрва 1.1×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AD995"/>
                </a:solidFill>
                <a:latin typeface="Calibri Light"/>
              </a:rPr>
              <a:t>СКАЛИРАЊЕ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447141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на корисничките kWh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AD995"/>
                </a:solidFill>
                <a:latin typeface="Calibri Light"/>
              </a:rPr>
              <a:t>ИЗВОР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5074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F3F9"/>
                </a:solidFill>
                <a:latin typeface="Calibri Light"/>
              </a:rPr>
              <a:t>ДЗС статистика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806440"/>
            <a:ext cx="11018520" cy="50292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9436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DC4D4"/>
                </a:solidFill>
                <a:latin typeface="Calibri Light"/>
              </a:rPr>
              <a:t>Двата извора се спојуваат со inner join — само периодот што го покриваат обата. Без измислени вредности.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B82E"/>
                </a:solidFill>
                <a:latin typeface="Calibri Light"/>
              </a:rPr>
              <a:t>03 · МАШИНСКО УЧЕЊЕ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Што ќе се случи утре?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82E"/>
                </a:solidFill>
                <a:latin typeface="Calibri Light"/>
              </a:rPr>
              <a:t>КАКО УЧИ МОДЕЛОТ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FB2C9"/>
                </a:solidFill>
                <a:latin typeface="Calibri Light"/>
              </a:rPr>
              <a:t>Му покажуваме 21.673 примери од историјата каде одговорот е познат. Тој сам ги открива шемите — никој не му пишува правила.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26080"/>
            <a:ext cx="5577840" cy="137160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B82E"/>
                </a:solidFill>
                <a:latin typeface="Calibri Light"/>
              </a:rPr>
              <a:t>ЕДЕН ПРИМЕР ОД УЧЕЊЕТО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час 14 · јули · 28°C · облачност 10% · вчера 4.1 kW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→  реално испадна </a:t>
            </a:r>
            <a:r>
              <a:rPr sz="1400" b="1" i="0">
                <a:solidFill>
                  <a:srgbClr val="FFB82E"/>
                </a:solidFill>
                <a:latin typeface="Calibri Light"/>
              </a:rPr>
              <a:t>4.2 kW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" y="4585716"/>
            <a:ext cx="100584" cy="100584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22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6402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2C9"/>
                </a:solidFill>
                <a:latin typeface="Calibri Light"/>
              </a:rPr>
              <a:t>календар · метео прогноза · историски вредности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" y="5152644"/>
            <a:ext cx="100584" cy="100584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93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600 дрва (XGBoost)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30952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2C9"/>
                </a:solidFill>
                <a:latin typeface="Calibri Light"/>
              </a:rPr>
              <a:t>секое ги коригира грешките на претходните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83080"/>
            <a:ext cx="5212080" cy="2377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783080"/>
            <a:ext cx="64008" cy="2377440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011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AD995"/>
                </a:solidFill>
                <a:latin typeface="Calibri Light"/>
              </a:rPr>
              <a:t>РЕЗУЛТАТ НА ТЕСТ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286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FB2C9"/>
                </a:solidFill>
                <a:latin typeface="Calibri Light"/>
              </a:rPr>
              <a:t>6 месеци што моделот НИКОГАШ не ги видел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609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D995"/>
                </a:solidFill>
                <a:latin typeface="Calibri"/>
              </a:rPr>
              <a:t>0.151 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715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FB2C9"/>
                </a:solidFill>
                <a:latin typeface="Calibri Light"/>
              </a:rPr>
              <a:t>просечна грешка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181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D995"/>
                </a:solidFill>
                <a:latin typeface="Calibri"/>
              </a:rPr>
              <a:t>0.897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1729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FB2C9"/>
                </a:solidFill>
                <a:latin typeface="Calibri Light"/>
              </a:rPr>
              <a:t>објаснета варијација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vs наивна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75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D995"/>
                </a:solidFill>
                <a:latin typeface="Calibri"/>
              </a:rPr>
              <a:t>+34 %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630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FB2C9"/>
                </a:solidFill>
                <a:latin typeface="Calibri Light"/>
              </a:rPr>
              <a:t>колку е подобар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343400"/>
            <a:ext cx="5212080" cy="16916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4343400"/>
            <a:ext cx="64008" cy="169164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5537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7A6E"/>
                </a:solidFill>
                <a:latin typeface="Calibri Light"/>
              </a:rPr>
              <a:t>⚠  НАЈДЕН И ОТСТРАНЕТ: DATA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864608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Првично добив </a:t>
            </a:r>
            <a:r>
              <a:rPr sz="1150" b="1" i="0">
                <a:solidFill>
                  <a:srgbClr val="FF7A6E"/>
                </a:solidFill>
                <a:latin typeface="Calibri Light"/>
              </a:rPr>
              <a:t>96% подобрување</a:t>
            </a:r>
            <a:r>
              <a:rPr sz="1150" b="0" i="0">
                <a:solidFill>
                  <a:srgbClr val="9FB2C9"/>
                </a:solidFill>
                <a:latin typeface="Calibri Light"/>
              </a:rPr>
              <a:t> — премногу добро. Причина: користев </a:t>
            </a:r>
            <a:r>
              <a:rPr sz="1150" b="1" i="0">
                <a:solidFill>
                  <a:srgbClr val="EEF3F9"/>
                </a:solidFill>
                <a:latin typeface="Calibri Light"/>
              </a:rPr>
              <a:t>ghi</a:t>
            </a:r>
            <a:r>
              <a:rPr sz="1150" b="0" i="0">
                <a:solidFill>
                  <a:srgbClr val="9FB2C9"/>
                </a:solidFill>
                <a:latin typeface="Calibri Light"/>
              </a:rPr>
              <a:t> (измерена радијација), а PVGIS ја пресметува PV моќноста директно од неа. Моделот препишуваше наместо да учи.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B82E"/>
                </a:solidFill>
                <a:latin typeface="Calibri Light"/>
              </a:rPr>
              <a:t>03 · МАШИНСКО УЧЕЊЕ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22 features — што „гледа" моделот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566160" cy="30175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64008" cy="301752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DC4D4"/>
                </a:solidFill>
                <a:latin typeface="Calibri"/>
              </a:rPr>
              <a:t>КАЛЕНДАР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21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9FB2C9"/>
                </a:solidFill>
                <a:latin typeface="Calibri Light"/>
              </a:rPr>
              <a:t>4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14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EF3F9"/>
                </a:solidFill>
                <a:latin typeface="Calibri Light"/>
              </a:rPr>
              <a:t>hour_sin · hour_cos
doy_sin · doy_cos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FB2C9"/>
                </a:solidFill>
                <a:latin typeface="Calibri Light"/>
              </a:rPr>
              <a:t>Циклично кодирање — за да 23ч и 0ч бидат соседни, а не далечни броеви.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874519"/>
            <a:ext cx="3566160" cy="30175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874519"/>
            <a:ext cx="64008" cy="301752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B82E"/>
                </a:solidFill>
                <a:latin typeface="Calibri"/>
              </a:rPr>
              <a:t>МЕТЕО ПРОГНОЗА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121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9FB2C9"/>
                </a:solidFill>
                <a:latin typeface="Calibri Light"/>
              </a:rPr>
              <a:t>14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14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EF3F9"/>
                </a:solidFill>
                <a:latin typeface="Calibri Light"/>
              </a:rPr>
              <a:t>cloud_cover · cloud_low/mid/high
cloud_efektivna · vedro · oblacno
temp_air · humidity · wind_speed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7033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FB2C9"/>
                </a:solidFill>
                <a:latin typeface="Calibri Light"/>
              </a:rPr>
              <a:t>Единствениот непредвидлив дел. Ниските облаци блокираат 3× повеќе од високите.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874519"/>
            <a:ext cx="3566160" cy="30175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74152" y="1874519"/>
            <a:ext cx="64008" cy="3017520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D995"/>
                </a:solidFill>
                <a:latin typeface="Calibri"/>
              </a:rPr>
              <a:t>ИСТОРИЈА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3032" y="2121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9FB2C9"/>
                </a:solidFill>
                <a:latin typeface="Calibri Light"/>
              </a:rPr>
              <a:t>4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514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EF3F9"/>
                </a:solidFill>
                <a:latin typeface="Calibri Light"/>
              </a:rPr>
              <a:t>pv_lag24 · pv_lag48
pv_lag168 · pv_prosek7d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033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FB2C9"/>
                </a:solidFill>
                <a:latin typeface="Calibri Light"/>
              </a:rPr>
              <a:t>Вчерашниот сончев ден е добар показател. Сите се од минатото — легитимно.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20640"/>
            <a:ext cx="11018520" cy="9601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120640"/>
            <a:ext cx="64008" cy="960120"/>
          </a:xfrm>
          <a:prstGeom prst="roundRect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21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A68BF0"/>
                </a:solidFill>
                <a:latin typeface="Calibri Light"/>
              </a:rPr>
              <a:t>Клучното правило:  </a:t>
            </a:r>
            <a:r>
              <a:rPr sz="1300" b="0" i="0">
                <a:solidFill>
                  <a:srgbClr val="9FB2C9"/>
                </a:solidFill>
                <a:latin typeface="Calibri Light"/>
              </a:rPr>
              <a:t>сите 22 features се познати ОДНАПРЕД — календарски, од временска прогноза, или минати вредности. Ниту еден не бара информација од часот што го предвидуваме.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68BF0"/>
                </a:solidFill>
                <a:latin typeface="Calibri Light"/>
              </a:rPr>
              <a:t>04 · ОПТИМИЗАЦИЈА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Што да се прави тогаш?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18520" cy="123444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8BF0"/>
                </a:solidFill>
                <a:latin typeface="Calibri Light"/>
              </a:rPr>
              <a:t>ЦЕЛНА ФУНКЦИЈА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A68BF0"/>
                </a:solidFill>
                <a:latin typeface="Calibri"/>
              </a:rPr>
              <a:t>min  </a:t>
            </a:r>
            <a:r>
              <a:rPr sz="2200" b="1" i="0">
                <a:solidFill>
                  <a:srgbClr val="EEF3F9"/>
                </a:solidFill>
                <a:latin typeface="Calibri"/>
              </a:rPr>
              <a:t>Σ</a:t>
            </a:r>
            <a:r>
              <a:rPr sz="1600" b="0" i="0">
                <a:solidFill>
                  <a:srgbClr val="EEF3F9"/>
                </a:solidFill>
                <a:latin typeface="Calibri Light"/>
              </a:rPr>
              <a:t>  ( цена_увоз(t) × купено(t)  −  feed-in × продадено(t)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FB2C9"/>
                </a:solidFill>
                <a:latin typeface="Calibri Light"/>
              </a:rPr>
              <a:t>минимизирај го вкупниот трошок од мрежа за целата седмица (168 часа)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8BF0"/>
                </a:solidFill>
                <a:latin typeface="Calibri Light"/>
              </a:rPr>
              <a:t>ЧЕТИРИ ОГРАНИЧУВАЊА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80"/>
            <a:ext cx="2679192" cy="132588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611880"/>
            <a:ext cx="64008" cy="132588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822191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3F9"/>
                </a:solidFill>
                <a:latin typeface="Calibri"/>
              </a:rPr>
              <a:t>Енергетски биланс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206240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FB2C9"/>
                </a:solidFill>
                <a:latin typeface="Calibri Light"/>
              </a:rPr>
              <a:t>load = pv + купено − продадено + празни − полни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611880"/>
            <a:ext cx="2679192" cy="132588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3611880"/>
            <a:ext cx="64008" cy="1325880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3822191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3F9"/>
                </a:solidFill>
                <a:latin typeface="Calibri"/>
              </a:rPr>
              <a:t>SoC лимити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4206240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FB2C9"/>
                </a:solidFill>
                <a:latin typeface="Calibri Light"/>
              </a:rPr>
              <a:t>10% ≤ батерија ≤ 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2679192" cy="132588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64008" cy="132588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822191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3F9"/>
                </a:solidFill>
                <a:latin typeface="Calibri"/>
              </a:rPr>
              <a:t>C-rate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206240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FB2C9"/>
                </a:solidFill>
                <a:latin typeface="Calibri Light"/>
              </a:rPr>
              <a:t>полнење/празнење ≤ 0.5 × капацитет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611880"/>
            <a:ext cx="2679192" cy="132588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0" y="3611880"/>
            <a:ext cx="64008" cy="132588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3822191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3F9"/>
                </a:solidFill>
                <a:latin typeface="Calibri"/>
              </a:rPr>
              <a:t>Ефикасност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4206240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FB2C9"/>
                </a:solidFill>
                <a:latin typeface="Calibri Light"/>
              </a:rPr>
              <a:t>90% round-trip (10% се губи)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66360"/>
            <a:ext cx="11018520" cy="9601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5166360"/>
            <a:ext cx="64008" cy="96012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A68BF0"/>
                </a:solidFill>
                <a:latin typeface="Calibri Light"/>
              </a:rPr>
              <a:t>PuLP</a:t>
            </a:r>
            <a:r>
              <a:rPr sz="1250" b="0" i="0">
                <a:solidFill>
                  <a:srgbClr val="9FB2C9"/>
                </a:solidFill>
                <a:latin typeface="Calibri Light"/>
              </a:rPr>
              <a:t> ги пишува правилата  →  </a:t>
            </a:r>
            <a:r>
              <a:rPr sz="1350" b="1" i="0">
                <a:solidFill>
                  <a:srgbClr val="A68BF0"/>
                </a:solidFill>
                <a:latin typeface="Calibri Light"/>
              </a:rPr>
              <a:t>CBC solver</a:t>
            </a:r>
            <a:r>
              <a:rPr sz="1250" b="0" i="0">
                <a:solidFill>
                  <a:srgbClr val="9FB2C9"/>
                </a:solidFill>
                <a:latin typeface="Calibri Light"/>
              </a:rPr>
              <a:t> ја решава математиката за под секунда и </a:t>
            </a:r>
            <a:r>
              <a:rPr sz="1250" b="1" i="0">
                <a:solidFill>
                  <a:srgbClr val="FFB82E"/>
                </a:solidFill>
                <a:latin typeface="Calibri Light"/>
              </a:rPr>
              <a:t>ГАРАНТИРА</a:t>
            </a:r>
            <a:r>
              <a:rPr sz="1250" b="0" i="0">
                <a:solidFill>
                  <a:srgbClr val="9FB2C9"/>
                </a:solidFill>
                <a:latin typeface="Calibri Light"/>
              </a:rPr>
              <a:t> дека ниту еден друг план не е поевтин.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68BF0"/>
                </a:solidFill>
                <a:latin typeface="Calibri Light"/>
              </a:rPr>
              <a:t>04 · ОПТИМИЗАЦИЈА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Што LP сам открива — арбитража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FB2C9"/>
                </a:solidFill>
                <a:latin typeface="Calibri Light"/>
              </a:rPr>
              <a:t>Никој не му кажува „полни ноќе". Тој гледа дека цените се различни по час и сам заклучува: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86000"/>
            <a:ext cx="3657600" cy="16916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2286000"/>
            <a:ext cx="64008" cy="169164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4871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3DC4D4"/>
                </a:solidFill>
                <a:latin typeface="Calibri"/>
              </a:rPr>
              <a:t>03:00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443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НТ · ефтино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18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полни се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DC4D4"/>
                </a:solidFill>
                <a:latin typeface="Calibri Light"/>
              </a:rPr>
              <a:t>4.28 ден/kWh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74920" y="2880360"/>
            <a:ext cx="502920" cy="365760"/>
          </a:xfrm>
          <a:prstGeom prst="rightArrow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337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FB2C9"/>
                </a:solidFill>
                <a:latin typeface="Calibri Light"/>
              </a:rPr>
              <a:t>чувај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286000"/>
            <a:ext cx="3657600" cy="16916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2286000"/>
            <a:ext cx="64008" cy="169164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4871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7A6E"/>
                </a:solidFill>
                <a:latin typeface="Calibri"/>
              </a:rPr>
              <a:t>19:00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443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ВТ · скапо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18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празни се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7A6E"/>
                </a:solidFill>
                <a:latin typeface="Calibri Light"/>
              </a:rPr>
              <a:t>8.37 ден/kWh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11018520" cy="178308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622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AD995"/>
                </a:solidFill>
                <a:latin typeface="Calibri Light"/>
              </a:rPr>
              <a:t>ПРЕСМЕТКА НА ДОБИВКАТА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2C9"/>
                </a:solidFill>
                <a:latin typeface="Calibri Light"/>
              </a:rPr>
              <a:t>Купувам во НТ (со 90% ефикасност)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8006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1.11 kWh × 4.28 ден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800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FB2C9"/>
                </a:solidFill>
                <a:latin typeface="Calibri"/>
              </a:rPr>
              <a:t>= 4.76 ден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2C9"/>
                </a:solidFill>
                <a:latin typeface="Calibri Light"/>
              </a:rPr>
              <a:t>Заштедувам во ВТ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166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1 kWh × 8.37 ден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166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FB2C9"/>
                </a:solidFill>
                <a:latin typeface="Calibri"/>
              </a:rPr>
              <a:t>= 8.37 ден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449824"/>
            <a:ext cx="10332720" cy="9000"/>
          </a:xfrm>
          <a:prstGeom prst="rect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EF3F9"/>
                </a:solidFill>
                <a:latin typeface="Calibri Light"/>
              </a:rPr>
              <a:t>ЧИСТА ДОБИВКА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532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D995"/>
                </a:solidFill>
                <a:latin typeface="Calibri"/>
              </a:rPr>
              <a:t>= 3.61 ден/kWh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05 · ЕКОНОМИЈА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EVN тарифи 2026 — зошто блоковите се клучни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7A6E"/>
                </a:solidFill>
                <a:latin typeface="Calibri Light"/>
              </a:rPr>
              <a:t>ДОМАЌИНСТВА · ВИСОКА ТАРИФА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5669280" cy="47548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64008" cy="475488"/>
          </a:xfrm>
          <a:prstGeom prst="roundRect">
            <a:avLst/>
          </a:prstGeom>
          <a:solidFill>
            <a:srgbClr val="8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F9EB3"/>
                </a:solidFill>
                <a:latin typeface="Calibri"/>
              </a:rPr>
              <a:t>ВТ1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до 210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94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5.0502 ден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15768"/>
            <a:ext cx="5669280" cy="47548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715768"/>
            <a:ext cx="64008" cy="475488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DC4D4"/>
                </a:solidFill>
                <a:latin typeface="Calibri"/>
              </a:rPr>
              <a:t>ВТ2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211 – 630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163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6.3348 ден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82696"/>
            <a:ext cx="5669280" cy="47548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282696"/>
            <a:ext cx="64008" cy="475488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015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B82E"/>
                </a:solidFill>
                <a:latin typeface="Calibri"/>
              </a:rPr>
              <a:t>ВТ3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198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631 – 1050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8.4573 ден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49624"/>
            <a:ext cx="5669280" cy="47548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849624"/>
            <a:ext cx="64008" cy="475488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84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7A6E"/>
                </a:solidFill>
                <a:latin typeface="Calibri"/>
              </a:rPr>
              <a:t>ВТ4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867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над 1050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502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20.8300 ден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5669280" cy="475488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DC4D4"/>
                </a:solidFill>
                <a:latin typeface="Calibri"/>
              </a:rPr>
              <a:t>НТ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рамна, без блокови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5811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3DC4D4"/>
                </a:solidFill>
                <a:latin typeface="Calibri"/>
              </a:rPr>
              <a:t>2.2493 ден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1206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FB2C9"/>
                </a:solidFill>
                <a:latin typeface="Calibri Light"/>
              </a:rPr>
              <a:t>+ мрежарина 2.0339 ден/kWh на секој увезен киловат-час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1783080"/>
            <a:ext cx="5120640" cy="21031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1783080"/>
            <a:ext cx="64008" cy="210312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19933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82E"/>
                </a:solidFill>
                <a:latin typeface="Calibri Light"/>
              </a:rPr>
              <a:t>ЗОШТО Е ТОА ВАЖНО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3317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FB2C9"/>
                </a:solidFill>
                <a:latin typeface="Calibri Light"/>
              </a:rPr>
              <a:t>Батеријата ги заменува </a:t>
            </a:r>
            <a:r>
              <a:rPr sz="1300" b="1" i="0">
                <a:solidFill>
                  <a:srgbClr val="FFB82E"/>
                </a:solidFill>
                <a:latin typeface="Calibri Light"/>
              </a:rPr>
              <a:t>НАЈСКАПИТЕ</a:t>
            </a:r>
            <a:r>
              <a:rPr sz="1300" b="0" i="0">
                <a:solidFill>
                  <a:srgbClr val="9FB2C9"/>
                </a:solidFill>
                <a:latin typeface="Calibri Light"/>
              </a:rPr>
              <a:t> киловат-часови — оние од најгорниот блок што домаќинството го достигнува.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FB2C9"/>
                </a:solidFill>
                <a:latin typeface="Calibri Light"/>
              </a:rPr>
              <a:t>Затоа алатката ја користи </a:t>
            </a:r>
            <a:r>
              <a:rPr sz="1300" b="1" i="0">
                <a:solidFill>
                  <a:srgbClr val="EEF3F9"/>
                </a:solidFill>
                <a:latin typeface="Calibri Light"/>
              </a:rPr>
              <a:t>маргиналната</a:t>
            </a:r>
            <a:r>
              <a:rPr sz="1300" b="0" i="0">
                <a:solidFill>
                  <a:srgbClr val="9FB2C9"/>
                </a:solidFill>
                <a:latin typeface="Calibri Light"/>
              </a:rPr>
              <a:t> цена, не просечната.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069080"/>
            <a:ext cx="5120640" cy="1874519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92240" y="4069080"/>
            <a:ext cx="64008" cy="1874519"/>
          </a:xfrm>
          <a:prstGeom prst="roundRect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2793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8BF0"/>
                </a:solidFill>
                <a:latin typeface="Calibri Light"/>
              </a:rPr>
              <a:t>ФИРМИ — СОСЕМА ДРУГО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617720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A68BF0"/>
                </a:solidFill>
                <a:latin typeface="Calibri"/>
              </a:rPr>
              <a:t>17.2833 ден/kWh</a:t>
            </a:r>
            <a:r>
              <a:rPr sz="1200" b="0" i="0">
                <a:solidFill>
                  <a:srgbClr val="9FB2C9"/>
                </a:solidFill>
                <a:latin typeface="Calibri Light"/>
              </a:rPr>
              <a:t>  рамна цена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Нема ВТ/НТ, нема блокови — иста цена 24 часа. Затоа кај фирмите нема арбитража, туку само самопотрошувачка.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05 · ЕКОНОМИЈА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Од сметка до препорака — чекор по чекор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1018520" cy="65836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64008" cy="658368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29967"/>
            <a:ext cx="347472" cy="347472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9397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13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3911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DC4D4"/>
                </a:solidFill>
                <a:latin typeface="Calibri"/>
              </a:rPr>
              <a:t>Сметка 10.000 ден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93975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корисникот внесува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33856" y="2551175"/>
            <a:ext cx="137160" cy="91440"/>
          </a:xfrm>
          <a:prstGeom prst="downArrow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651759"/>
            <a:ext cx="11018520" cy="65836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651759"/>
            <a:ext cx="64008" cy="658368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" y="2807207"/>
            <a:ext cx="347472" cy="347472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712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137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635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82E"/>
                </a:solidFill>
                <a:latin typeface="Calibri"/>
              </a:rPr>
              <a:t>17.793 kWh/год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871215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инверзна пресметка низ блоковите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133856" y="3328415"/>
            <a:ext cx="137160" cy="91440"/>
          </a:xfrm>
          <a:prstGeom prst="downArrow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428999"/>
            <a:ext cx="11018520" cy="65836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428999"/>
            <a:ext cx="64008" cy="658368"/>
          </a:xfrm>
          <a:prstGeom prst="roundRect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584447"/>
            <a:ext cx="347472" cy="347472"/>
          </a:xfrm>
          <a:prstGeom prst="ellipse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13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59359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A68BF0"/>
                </a:solidFill>
                <a:latin typeface="Calibri"/>
              </a:rPr>
              <a:t>Блок ВТ3 · 8.4573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648455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маргинална цена — автоматски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133856" y="4105655"/>
            <a:ext cx="137160" cy="91440"/>
          </a:xfrm>
          <a:prstGeom prst="downArrow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206239"/>
            <a:ext cx="11018520" cy="65836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206239"/>
            <a:ext cx="64008" cy="658368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7824" y="4361687"/>
            <a:ext cx="347472" cy="347472"/>
          </a:xfrm>
          <a:prstGeom prst="ellipse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42569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137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7083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D995"/>
                </a:solidFill>
                <a:latin typeface="Calibri"/>
              </a:rPr>
              <a:t>20 LP проблеми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425695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5 батерии × 4 сезонски недели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133856" y="4882895"/>
            <a:ext cx="137160" cy="91440"/>
          </a:xfrm>
          <a:prstGeom prst="downArrow">
            <a:avLst/>
          </a:prstGeom>
          <a:solidFill>
            <a:srgbClr val="2A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4360" y="4983479"/>
            <a:ext cx="11018520" cy="658368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4983479"/>
            <a:ext cx="64008" cy="658368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5138927"/>
            <a:ext cx="347472" cy="347472"/>
          </a:xfrm>
          <a:prstGeom prst="ellipse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0293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137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14807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7A6E"/>
                </a:solidFill>
                <a:latin typeface="Calibri"/>
              </a:rPr>
              <a:t>10 kWh · 8.3 год.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202935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9FB2C9"/>
                </a:solidFill>
                <a:latin typeface="Calibri Light"/>
              </a:rPr>
              <a:t>највисок NPV → препорака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852160"/>
            <a:ext cx="11018520" cy="50292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4AD995"/>
                </a:solidFill>
                <a:latin typeface="Calibri Light"/>
              </a:rPr>
              <a:t>Изборот е по НАЈВИСОК NPV — само таа метрика ги балансира заштедата и цената. Најбрза отплата ја бира најмалата батерија, најголема заштеда — најголемата.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06 · ВЕБ АЛАТКА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Што гледа корисникот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 Light"/>
              </a:rPr>
              <a:t>ШТО ВНЕСУВА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5120640" cy="438912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240280"/>
            <a:ext cx="256032" cy="256032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76856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213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F3F9"/>
                </a:solidFill>
                <a:latin typeface="Calibri Light"/>
              </a:rPr>
              <a:t>Домаќинство или фирма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79192"/>
            <a:ext cx="5120640" cy="438912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2770632"/>
            <a:ext cx="256032" cy="256032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07208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213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980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F3F9"/>
                </a:solidFill>
                <a:latin typeface="Calibri Light"/>
              </a:rPr>
              <a:t>Тип на греење — струја / топлинска / дрва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09544"/>
            <a:ext cx="5120640" cy="438912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256032" cy="256032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33756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213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284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F3F9"/>
                </a:solidFill>
                <a:latin typeface="Calibri Light"/>
              </a:rPr>
              <a:t>Месечна EVN сметка (или 4 сезонски)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39896"/>
            <a:ext cx="5120640" cy="438912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3831336"/>
            <a:ext cx="256032" cy="256032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867912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F2137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587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EF3F9"/>
                </a:solidFill>
                <a:latin typeface="Calibri Light"/>
              </a:rPr>
              <a:t>PV систем — има или нема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7A6E"/>
                </a:solidFill>
                <a:latin typeface="Calibri Light"/>
              </a:rPr>
              <a:t>ЗАКОНСКИ ЛИМИТ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754880"/>
            <a:ext cx="5120640" cy="10058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754880"/>
            <a:ext cx="64008" cy="100584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EEF3F9"/>
                </a:solidFill>
                <a:latin typeface="Calibri Light"/>
              </a:rPr>
              <a:t>Максимум 12 kWp панели · 10 kW инвертор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за домаќинства во Македонија — алатката автоматски ограничува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783080"/>
            <a:ext cx="5577840" cy="3977639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35040" y="1783080"/>
            <a:ext cx="64008" cy="3977639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B82E"/>
                </a:solidFill>
                <a:latin typeface="Calibri Light"/>
              </a:rPr>
              <a:t>ТВОЈА ПЕРСОНАЛИЗИРАНА ПРЕПОРАКА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3591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EF3F9"/>
                </a:solidFill>
                <a:latin typeface="Calibri"/>
              </a:rPr>
              <a:t>Оптималната батерија е 10 kWh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926080"/>
            <a:ext cx="1188720" cy="86868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2926080"/>
            <a:ext cx="64008" cy="86868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0632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3DC4D4"/>
                </a:solidFill>
                <a:latin typeface="Calibri Light"/>
              </a:rPr>
              <a:t>КАПАЦИТЕТ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291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10 kWh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44384" y="2926080"/>
            <a:ext cx="1188720" cy="86868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44384" y="2926080"/>
            <a:ext cx="64008" cy="86868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2" y="30632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FFB82E"/>
                </a:solidFill>
                <a:latin typeface="Calibri Light"/>
              </a:rPr>
              <a:t>ИНВЕСТИЦИЈА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9832" y="3291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126.000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3688" y="2926080"/>
            <a:ext cx="1188720" cy="86868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2926080"/>
            <a:ext cx="64008" cy="868680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89136" y="30632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4AD995"/>
                </a:solidFill>
                <a:latin typeface="Calibri Light"/>
              </a:rPr>
              <a:t>ЗАШТЕДА/ГОД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9136" y="3291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20.700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22992" y="2926080"/>
            <a:ext cx="1188720" cy="86868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22992" y="2926080"/>
            <a:ext cx="64008" cy="86868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30632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FF7A6E"/>
                </a:solidFill>
                <a:latin typeface="Calibri Light"/>
              </a:rPr>
              <a:t>ОТПЛАТА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3291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8.3 год.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3977639"/>
            <a:ext cx="4937760" cy="658368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1148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AD995"/>
                </a:solidFill>
                <a:latin typeface="Calibri Light"/>
              </a:rPr>
              <a:t>✓  ЗЕЛЕНО · СЕ ИСПЛАТИ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343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EF3F9"/>
                </a:solidFill>
                <a:latin typeface="Calibri Light"/>
              </a:rPr>
              <a:t>NPV +52.000 ден за 15 год · искористеност 76%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8006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9FB2C9"/>
                </a:solidFill>
                <a:latin typeface="Calibri Light"/>
              </a:rPr>
              <a:t>Плус: споредбена табела со сите капацитети · 5 графикони · timeline на отплата · директен линк до понудата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06 · ВЕБ АЛАТКА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Архитектура — 6 модула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64008" cy="123444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DC4D4"/>
                </a:solidFill>
                <a:latin typeface="Calibri"/>
              </a:rPr>
              <a:t>config.py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420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сите параметри на едно место
тарифи · цени · лимити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965960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6" y="1965960"/>
            <a:ext cx="64008" cy="1234440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DC4D4"/>
                </a:solidFill>
                <a:latin typeface="Calibri"/>
              </a:rPr>
              <a:t>podatoci.py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5420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сонце (PVGIS) + профил
на потрошувачка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965960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74152" y="1965960"/>
            <a:ext cx="64008" cy="123444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82E"/>
                </a:solidFill>
                <a:latin typeface="Calibri"/>
              </a:rPr>
              <a:t>ml_prognoza.py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420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XGBoost — прогноза
на соларна продукција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01568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401568"/>
            <a:ext cx="64008" cy="1234440"/>
          </a:xfrm>
          <a:prstGeom prst="roundRect">
            <a:avLst/>
          </a:prstGeom>
          <a:solidFill>
            <a:srgbClr val="A6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6027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68BF0"/>
                </a:solidFill>
                <a:latin typeface="Calibri"/>
              </a:rPr>
              <a:t>lp_optimizacija.py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77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PuLP + CBC — оптимален
план за батеријата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401568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34256" y="3401568"/>
            <a:ext cx="64008" cy="1234440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36027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D995"/>
                </a:solidFill>
                <a:latin typeface="Calibri"/>
              </a:rPr>
              <a:t>presmetka.py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3977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sweep на батерии
+ економика (NPV)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4152" y="3401568"/>
            <a:ext cx="3566160" cy="123444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74152" y="3401568"/>
            <a:ext cx="64008" cy="123444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6027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7A6E"/>
                </a:solidFill>
                <a:latin typeface="Calibri"/>
              </a:rPr>
              <a:t>api.py + index.html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977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2C9"/>
                </a:solidFill>
                <a:latin typeface="Calibri Light"/>
              </a:rPr>
              <a:t>Flask сервер · port 5002
веб интерфејс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029200"/>
            <a:ext cx="11018520" cy="105156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0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8BF0"/>
                </a:solidFill>
                <a:latin typeface="Calibri Light"/>
              </a:rPr>
              <a:t>ЕДЕН ИЗВОР НА ВИСТИНА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3212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Сите цени и тарифи се само во config.py. Веб страницата ги презема преку /api/ceni — менуваш едно место, се менува насекаде.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4AD995"/>
                </a:solidFill>
                <a:latin typeface="Calibri Light"/>
              </a:rPr>
              <a:t>07 · РЕЗУЛТАТИ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Кога батеријата се исплати?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1018520" cy="105156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64008" cy="1051560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82E"/>
                </a:solidFill>
                <a:latin typeface="Calibri Light"/>
              </a:rPr>
              <a:t>ГЛАВЕН НАОД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2C9"/>
                </a:solidFill>
                <a:latin typeface="Calibri Light"/>
              </a:rPr>
              <a:t>Не постои универзален одговор — </a:t>
            </a:r>
            <a:r>
              <a:rPr sz="1600" b="1" i="0">
                <a:solidFill>
                  <a:srgbClr val="FFB82E"/>
                </a:solidFill>
                <a:latin typeface="Calibri"/>
              </a:rPr>
              <a:t>зависи од потрошувачката</a:t>
            </a:r>
            <a:r>
              <a:rPr sz="1600" b="0" i="0">
                <a:solidFill>
                  <a:srgbClr val="9FB2C9"/>
                </a:solidFill>
                <a:latin typeface="Calibri Light"/>
              </a:rPr>
              <a:t>, бидејќи EVN тарифата е прогресивна.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C4D4"/>
                </a:solidFill>
                <a:latin typeface="Calibri Light"/>
              </a:rPr>
              <a:t>ПО ТИП НА КОРИСНИК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83280"/>
            <a:ext cx="11018520" cy="512064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383280"/>
            <a:ext cx="64008" cy="512064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Мала куќа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295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до 6.000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5295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ВТ1 · 5.05 ден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02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7A6E"/>
                </a:solidFill>
                <a:latin typeface="Calibri"/>
              </a:rPr>
              <a:t>не се исплати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34930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7A6E"/>
                </a:solidFill>
                <a:latin typeface="Calibri"/>
              </a:rPr>
              <a:t>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05072"/>
            <a:ext cx="11018520" cy="512064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005072"/>
            <a:ext cx="64008" cy="512064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33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Просечна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51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10.000 kWh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513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ВТ2 · 6.33 ден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123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B82E"/>
                </a:solidFill>
                <a:latin typeface="Calibri"/>
              </a:rPr>
              <a:t>гранично · 10-12 год.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41148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B82E"/>
                </a:solidFill>
                <a:latin typeface="Calibri"/>
              </a:rPr>
              <a:t>~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626864"/>
            <a:ext cx="11018520" cy="512064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626864"/>
            <a:ext cx="64008" cy="512064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Поголема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731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15-20.000 kWh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773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ВТ3 · 8.46 ден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457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D995"/>
                </a:solidFill>
                <a:latin typeface="Calibri"/>
              </a:rPr>
              <a:t>се исплати · 8-10 год.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47365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4AD995"/>
                </a:solidFill>
                <a:latin typeface="Calibr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48656"/>
            <a:ext cx="11018520" cy="512064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5248656"/>
            <a:ext cx="64008" cy="512064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3766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EF3F9"/>
                </a:solidFill>
                <a:latin typeface="Calibri"/>
              </a:rPr>
              <a:t>Фирма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94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50.000+ kWh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394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2C9"/>
                </a:solidFill>
                <a:latin typeface="Calibri Light"/>
              </a:rPr>
              <a:t>рамна · 18.00 ден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3675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D995"/>
                </a:solidFill>
                <a:latin typeface="Calibri"/>
              </a:rPr>
              <a:t>се исплати · 3-4 год.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3583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4AD995"/>
                </a:solidFill>
                <a:latin typeface="Calibri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806440"/>
            <a:ext cx="11018520" cy="45720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92531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4AD995"/>
                </a:solidFill>
                <a:latin typeface="Calibri Light"/>
              </a:rPr>
              <a:t>Колку повеќе троши домаќинството, толку е поскап секој следен kWh — и толку повеќе штеди батеријата.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4D4"/>
                </a:solidFill>
                <a:latin typeface="Calibri Light"/>
              </a:rPr>
              <a:t>ЗАКЛУЧОК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EEF3F9"/>
                </a:solidFill>
                <a:latin typeface="Calibri"/>
              </a:rPr>
              <a:t>Што придонесува овој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822960" cy="32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566160" cy="274320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66160" cy="82296"/>
          </a:xfrm>
          <a:prstGeom prst="round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212848"/>
            <a:ext cx="475488" cy="475488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137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860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EF3F9"/>
                </a:solidFill>
                <a:latin typeface="Calibri"/>
              </a:rPr>
              <a:t>Методологија која функционира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632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ML прогноза + LP оптимизација, комбинирани и валидирани на реални податоци. 34% подобра прогноза од наивна, математички докажан оптимум за диспечот.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874519"/>
            <a:ext cx="3566160" cy="274320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874519"/>
            <a:ext cx="3566160" cy="82296"/>
          </a:xfrm>
          <a:prstGeom prst="round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2" y="2212848"/>
            <a:ext cx="475488" cy="475488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2860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137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2860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EF3F9"/>
                </a:solidFill>
                <a:latin typeface="Calibri"/>
              </a:rPr>
              <a:t>Прв модел за македонскиот пазар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0632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Официјални EVN 2026 тарифи со блок-структура, реални цени на батерии од домашен добавувач, законски лимити за prosumer.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874519"/>
            <a:ext cx="3566160" cy="274320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74152" y="1874519"/>
            <a:ext cx="3566160" cy="82296"/>
          </a:xfrm>
          <a:prstGeom prst="roundRect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9328" y="2212848"/>
            <a:ext cx="475488" cy="475488"/>
          </a:xfrm>
          <a:prstGeom prst="ellipse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2860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137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2860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EF3F9"/>
                </a:solidFill>
                <a:latin typeface="Calibri"/>
              </a:rPr>
              <a:t>Употреблива алатка, не само труд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0632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Веб апликација што работи — секое домаќинство добива персонализирана препорака за 60 секунди, наместо проценка од инсталер.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846320"/>
            <a:ext cx="11018520" cy="1188720"/>
          </a:xfrm>
          <a:prstGeom prst="roundRect">
            <a:avLst/>
          </a:prstGeom>
          <a:solidFill>
            <a:srgbClr val="1A304A"/>
          </a:solidFill>
          <a:ln w="12700">
            <a:solidFill>
              <a:srgbClr val="2A4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846320"/>
            <a:ext cx="64008" cy="1188720"/>
          </a:xfrm>
          <a:prstGeom prst="round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474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7A6E"/>
                </a:solidFill>
                <a:latin typeface="Calibri Light"/>
              </a:rPr>
              <a:t>ОГРАНИЧУВАЊА И СЛЕДНИ ЧЕКОРИ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2C9"/>
                </a:solidFill>
                <a:latin typeface="Calibri Light"/>
              </a:rPr>
              <a:t>Load профилот е синтетички (нема јавни smart-meter податоци во Македонија)  ·  прогнозата за облаци е историски измерена, не вистинска прогноза  ·  следно: EVN API интеграција, degradation модел на батеријата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190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MARIA MITRIKESKA  ·  ОПТИМИЗАЦИЈА НА СОЛАРНО-БАТЕРИСКИ СИСТЕМИ  ·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190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9FB2C9"/>
                </a:solidFill>
                <a:latin typeface="Calibri Light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731520"/>
            <a:ext cx="1280160" cy="1280160"/>
          </a:xfrm>
          <a:prstGeom prst="ellipse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" y="5358384"/>
            <a:ext cx="621792" cy="621792"/>
          </a:xfrm>
          <a:prstGeom prst="ellipse">
            <a:avLst/>
          </a:prstGeom>
          <a:solidFill>
            <a:srgbClr val="4AD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65408" y="5230368"/>
            <a:ext cx="329184" cy="329184"/>
          </a:xfrm>
          <a:prstGeom prst="ellipse">
            <a:avLst/>
          </a:prstGeom>
          <a:solidFill>
            <a:srgbClr val="3D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DC4D4"/>
                </a:solidFill>
                <a:latin typeface="Calibri Light"/>
              </a:rPr>
              <a:t>БЛАГОДАРАМ ЗА ВНИМАНИЕТО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EEF3F9"/>
                </a:solidFill>
                <a:latin typeface="Calibri"/>
              </a:rPr>
              <a:t>Прашања?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4023360"/>
            <a:ext cx="822960" cy="34000"/>
          </a:xfrm>
          <a:prstGeom prst="rect">
            <a:avLst/>
          </a:prstGeom>
          <a:solidFill>
            <a:srgbClr val="FF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 i="0">
                <a:solidFill>
                  <a:srgbClr val="3DC4D4"/>
                </a:solidFill>
                <a:latin typeface="Calibri"/>
              </a:rPr>
              <a:t>MARIA MITRIKESKA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9FB2C9"/>
                </a:solidFill>
                <a:latin typeface="Calibri Light"/>
              </a:rPr>
              <a:t>Скопје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